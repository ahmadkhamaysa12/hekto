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gif" ContentType="image/gif"/>
  <Override PartName="/ppt/media/image6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04160" y="889920"/>
            <a:ext cx="998928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54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B3A669-9836-4F92-B62D-E6FFE943BE6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the outline text format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Outline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8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00560" y="2221920"/>
            <a:ext cx="106909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ck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to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edi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M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ast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er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tex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sty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o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d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v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h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i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r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d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 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v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o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u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r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h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v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i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h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v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622506-854A-459C-8EAF-47730710AD9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15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242280" y="997920"/>
            <a:ext cx="2348640" cy="49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68960" y="997920"/>
            <a:ext cx="8472960" cy="49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B71AC8-A921-4DDA-A34F-400D63DF668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29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00560" y="2221920"/>
            <a:ext cx="106909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90F306-F080-4757-92FE-143A02E06EF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22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00560" y="2221920"/>
            <a:ext cx="106909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031395-379E-4F9D-BD27-1B089EC8459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36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15320" y="1709640"/>
            <a:ext cx="1063188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6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15320" y="4589640"/>
            <a:ext cx="1063188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6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7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8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347D60-E6E0-45CD-85B4-AFBBB4850EF2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43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04160" y="2221920"/>
            <a:ext cx="52117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81200" y="2221920"/>
            <a:ext cx="52117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9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0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1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AECBC4-A4BA-424B-829C-F7A7C1C3854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51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04160" y="929160"/>
            <a:ext cx="1068912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04160" y="1756440"/>
            <a:ext cx="52117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704160" y="2442600"/>
            <a:ext cx="5211720" cy="35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81200" y="1756440"/>
            <a:ext cx="5211720" cy="65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81200" y="2442600"/>
            <a:ext cx="5211720" cy="351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2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3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24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453495-2F51-4AF2-876C-23A3B4C1876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61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25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6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27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918FAE-CFAF-49C4-92AE-3554C7BE6B2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67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68" name="PlaceHolder 1"/>
          <p:cNvSpPr>
            <a:spLocks noGrp="1"/>
          </p:cNvSpPr>
          <p:nvPr>
            <p:ph type="dt" idx="28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29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30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DD3F74-E60C-4DA2-9E47-F97AA70E11C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72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04160" y="1069920"/>
            <a:ext cx="4093200" cy="131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183280" y="1069920"/>
            <a:ext cx="6171840" cy="479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1" marL="6858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2" marL="11430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3" marL="16002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lvl="4" marL="205740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704160" y="2551320"/>
            <a:ext cx="4093200" cy="331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1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2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3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CDB8F5-613A-4788-A3E1-D06EF4906D4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Connector 6"/>
          <p:cNvCxnSpPr/>
          <p:nvPr/>
        </p:nvCxnSpPr>
        <p:spPr>
          <a:xfrm>
            <a:off x="799920" y="723600"/>
            <a:ext cx="1059228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80" name="Straight Connector 7"/>
          <p:cNvCxnSpPr/>
          <p:nvPr/>
        </p:nvCxnSpPr>
        <p:spPr>
          <a:xfrm>
            <a:off x="799920" y="6142680"/>
            <a:ext cx="1059228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04160" y="1066680"/>
            <a:ext cx="4102920" cy="131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5183280" y="1066680"/>
            <a:ext cx="6171840" cy="479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704160" y="2552760"/>
            <a:ext cx="4102920" cy="3315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34"/>
          </p:nvPr>
        </p:nvSpPr>
        <p:spPr>
          <a:xfrm>
            <a:off x="8369280" y="6356520"/>
            <a:ext cx="2549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105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&lt;date/time&gt;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35"/>
          </p:nvPr>
        </p:nvSpPr>
        <p:spPr>
          <a:xfrm>
            <a:off x="704160" y="6356520"/>
            <a:ext cx="45392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36"/>
          </p:nvPr>
        </p:nvSpPr>
        <p:spPr>
          <a:xfrm>
            <a:off x="10919160" y="6356520"/>
            <a:ext cx="67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50852D-66BF-4065-AC88-BA5897176B1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gif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sto MT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604480" y="871920"/>
            <a:ext cx="5825160" cy="387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54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Quantum computing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5619960" y="4785480"/>
            <a:ext cx="5321520" cy="10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cxnSp>
        <p:nvCxnSpPr>
          <p:cNvPr id="90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723640" y="723600"/>
            <a:ext cx="5706720" cy="360"/>
          </a:xfrm>
          <a:prstGeom prst="straightConnector1">
            <a:avLst/>
          </a:prstGeom>
          <a:ln w="44450">
            <a:solidFill>
              <a:srgbClr val="000000"/>
            </a:solidFill>
          </a:ln>
        </p:spPr>
      </p:cxnSp>
      <p:cxnSp>
        <p:nvCxnSpPr>
          <p:cNvPr id="91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723640" y="6134040"/>
            <a:ext cx="5668560" cy="36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pic>
        <p:nvPicPr>
          <p:cNvPr id="92" name="Picture 4" descr=""/>
          <p:cNvPicPr/>
          <p:nvPr/>
        </p:nvPicPr>
        <p:blipFill>
          <a:blip r:embed="rId1"/>
          <a:stretch/>
        </p:blipFill>
        <p:spPr>
          <a:xfrm>
            <a:off x="0" y="-46080"/>
            <a:ext cx="4857480" cy="690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introdution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30841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Quantum Computing : a new type of computing that uses the laws of quantum physics to process information in a completely different way from classical computers.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Classical vs quantum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pic>
        <p:nvPicPr>
          <p:cNvPr id="96" name="Content Placeholder 11" descr="A mazes with a solution&#10;&#10;AI-generated content may be incorrect."/>
          <p:cNvPicPr/>
          <p:nvPr/>
        </p:nvPicPr>
        <p:blipFill>
          <a:blip r:embed="rId1"/>
          <a:stretch/>
        </p:blipFill>
        <p:spPr>
          <a:xfrm>
            <a:off x="2124720" y="1826640"/>
            <a:ext cx="7942320" cy="4116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704160" y="896040"/>
            <a:ext cx="5211720" cy="7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classical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04160" y="1756440"/>
            <a:ext cx="5211720" cy="42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Information is encoded using classical bits where they can be either 0 or 1 only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The computing power comes from how many transistors are in a processing unit which basically represent bits.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181200" y="896040"/>
            <a:ext cx="5211720" cy="7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Univers Condensed"/>
              </a:rPr>
              <a:t>quantum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181200" y="1756440"/>
            <a:ext cx="5211720" cy="420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Information is encoded using quantum bits where they can be either 0 or 1 or both at the same time thru a concept called superposition.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The computing power comes from how many qubits are in a processing unit.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pic>
        <p:nvPicPr>
          <p:cNvPr id="101" name="Picture 14" descr="A white circle with blue and yellow circles&#10;&#10;AI-generated content may be incorrect."/>
          <p:cNvPicPr/>
          <p:nvPr/>
        </p:nvPicPr>
        <p:blipFill>
          <a:blip r:embed="rId1"/>
          <a:stretch/>
        </p:blipFill>
        <p:spPr>
          <a:xfrm>
            <a:off x="1523880" y="3711240"/>
            <a:ext cx="3571920" cy="211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6" descr="A colorful circle with a point in center&#10;&#10;AI-generated content may be incorrect."/>
          <p:cNvPicPr/>
          <p:nvPr/>
        </p:nvPicPr>
        <p:blipFill>
          <a:blip r:embed="rId2"/>
          <a:stretch/>
        </p:blipFill>
        <p:spPr>
          <a:xfrm>
            <a:off x="6968880" y="3978000"/>
            <a:ext cx="3038400" cy="212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superposition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9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Mathematically, superposition is a linear combination of "0" and "1" and can be written as: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algn="ctr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∣ψ⟩ = α∣0⟩ +  β∣1⟩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457200" indent="0" algn="ctr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∣0⟩ represents the 0 state. 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∣1⟩ represents the 1 state.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When we measure the qubit, it collapses to one of the two states: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Probability of reading out 0: ∣α∣^2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Probability of reading out 1: ∣β∣^2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entanglement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9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How quantum computers work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700560" y="2221920"/>
            <a:ext cx="1069092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applications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700560" y="1701360"/>
            <a:ext cx="10690920" cy="426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Cryptography: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Quantum computers can break certain classical encryption methods, such as RSA.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Medicine: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Quantum computers can simulate molecules and chemical reactions with high accuracy.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Artificial Intelligence and Machine Learning: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Quantum algorithms can accelerate computations used in AI and machine learning.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Optimization Problems: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Many practical problems in finance, logistics, and traffic management require finding the best solution among many options.</a:t>
            </a:r>
            <a:br>
              <a:rPr sz="2000"/>
            </a:b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>
              <a:rPr sz="2000"/>
            </a:b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Challenges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00200" y="1726200"/>
            <a:ext cx="10791000" cy="411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Qubit fragility &amp; cryogenics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— Qubits lose coherence easily, so systems need ultra-low temperatures and strong isolation.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Error correction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— Quantum noise causes frequent errors; today’s error-correction methods are heavy on resources and not yet practical at scale.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Cost &amp; technical complexity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— Cryogenics, precision control electronics, and specialized facilities make machines expensive and hard to build/maintain.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  <a:p>
            <a:pPr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Scalability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— Moving from tens to thousands or millions of high-fidelity qubits requires breakthroughs in fabrication, interconnects, cooling, and architecture.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2320560" cy="373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31" strike="noStrike" u="none" cap="all">
                <a:solidFill>
                  <a:schemeClr val="dk1"/>
                </a:solidFill>
                <a:effectLst/>
                <a:uFillTx/>
                <a:latin typeface="Univers Condensed"/>
              </a:rPr>
              <a:t>Future outlook</a:t>
            </a:r>
            <a:br>
              <a:rPr sz="3200"/>
            </a:br>
            <a:br>
              <a:rPr sz="3200"/>
            </a:br>
            <a:endParaRPr b="0" lang="en-US" sz="32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pic>
        <p:nvPicPr>
          <p:cNvPr id="114" name="Picture 2" descr=""/>
          <p:cNvPicPr/>
          <p:nvPr/>
        </p:nvPicPr>
        <p:blipFill>
          <a:blip r:embed="rId1"/>
          <a:stretch/>
        </p:blipFill>
        <p:spPr>
          <a:xfrm>
            <a:off x="3319560" y="914400"/>
            <a:ext cx="7374240" cy="4939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00560" y="914400"/>
            <a:ext cx="10690920" cy="130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Autofit/>
          </a:bodyPr>
          <a:p>
            <a:pPr indent="0" algn="ctr">
              <a:buNone/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Companies</a:t>
            </a:r>
            <a:endParaRPr b="0" lang="en-US" sz="800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  <p:pic>
        <p:nvPicPr>
          <p:cNvPr id="116" name="Content Placeholder 4" descr=""/>
          <p:cNvPicPr/>
          <p:nvPr/>
        </p:nvPicPr>
        <p:blipFill>
          <a:blip r:embed="rId1"/>
          <a:stretch/>
        </p:blipFill>
        <p:spPr>
          <a:xfrm>
            <a:off x="8001360" y="2883960"/>
            <a:ext cx="2905920" cy="10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6" descr="A colorful letter g&#10;&#10;AI-generated content may be incorrect."/>
          <p:cNvPicPr/>
          <p:nvPr/>
        </p:nvPicPr>
        <p:blipFill>
          <a:blip r:embed="rId2"/>
          <a:stretch/>
        </p:blipFill>
        <p:spPr>
          <a:xfrm>
            <a:off x="5745240" y="2739960"/>
            <a:ext cx="1353240" cy="13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Picture 8" descr=""/>
          <p:cNvPicPr/>
          <p:nvPr/>
        </p:nvPicPr>
        <p:blipFill>
          <a:blip r:embed="rId3"/>
          <a:stretch/>
        </p:blipFill>
        <p:spPr>
          <a:xfrm>
            <a:off x="1706400" y="3047040"/>
            <a:ext cx="3587040" cy="76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85800" y="2514600"/>
            <a:ext cx="10690920" cy="182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r>
              <a:rPr b="0" lang="en-US" sz="10560" strike="noStrike" u="none">
                <a:solidFill>
                  <a:schemeClr val="dk1"/>
                </a:solidFill>
                <a:effectLst/>
                <a:uFillTx/>
                <a:latin typeface="Calisto MT"/>
              </a:rPr>
              <a:t>Thank You</a:t>
            </a:r>
            <a:endParaRPr b="0" lang="en-US" sz="10560" strike="noStrike" u="none">
              <a:solidFill>
                <a:schemeClr val="dk1"/>
              </a:solidFill>
              <a:effectLst/>
              <a:uFillTx/>
              <a:latin typeface="Calisto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 pitchFamily="0" charset="1"/>
        <a:ea typeface=""/>
        <a:cs typeface=""/>
      </a:majorFont>
      <a:minorFont>
        <a:latin typeface="Calisto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Application>LibreOffice/25.2.5.2$Linux_X86_64 LibreOffice_project/fb4792146257752f54eab576deb869869b108571</Application>
  <AppVersion>15.0000</AppVersion>
  <Words>371</Words>
  <Paragraphs>33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2025-09-12T13:53:31Z</dcterms:created>
  <dc:creator>Issa Faez Mahmoud Alissa</dc:creator>
  <dc:description/>
  <dc:language>en-US</dc:language>
  <cp:lastModifiedBy/>
  <dcterms:modified xsi:type="dcterms:W3CDTF">2025-09-12T22:40:51Z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